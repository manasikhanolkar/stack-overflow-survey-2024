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25252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25252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25252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25252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79847" y="1418811"/>
            <a:ext cx="5167025" cy="482612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37885" y="6372552"/>
            <a:ext cx="613059" cy="243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1052" y="6372100"/>
            <a:ext cx="1630680" cy="24765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38200" y="1296644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1887" y="668794"/>
            <a:ext cx="9128224" cy="6635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25252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509942"/>
            <a:ext cx="10387330" cy="314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erging Technology Trends You Must ...">
            <a:extLst>
              <a:ext uri="{FF2B5EF4-FFF2-40B4-BE49-F238E27FC236}">
                <a16:creationId xmlns:a16="http://schemas.microsoft.com/office/drawing/2014/main" id="{92ADF005-1EF7-B06C-D4FA-C60CBCE9C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33400"/>
            <a:ext cx="10058606" cy="5562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/>
          <p:nvPr/>
        </p:nvSpPr>
        <p:spPr>
          <a:xfrm>
            <a:off x="2880360" y="3649111"/>
            <a:ext cx="6431280" cy="0"/>
          </a:xfrm>
          <a:custGeom>
            <a:avLst/>
            <a:gdLst/>
            <a:ahLst/>
            <a:cxnLst/>
            <a:rect l="l" t="t" r="r" b="b"/>
            <a:pathLst>
              <a:path w="6431280">
                <a:moveTo>
                  <a:pt x="0" y="0"/>
                </a:moveTo>
                <a:lnTo>
                  <a:pt x="6431280" y="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65141" y="5567966"/>
            <a:ext cx="30619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©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IBM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Corporation.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reserved.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7885" y="6372552"/>
            <a:ext cx="613059" cy="2430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052" y="6372100"/>
            <a:ext cx="1630680" cy="2476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97642" y="3856503"/>
            <a:ext cx="672083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chemeClr val="bg1"/>
                </a:solidFill>
                <a:latin typeface="Times New Roman"/>
                <a:cs typeface="Times New Roman"/>
              </a:rPr>
              <a:t>Technology</a:t>
            </a:r>
            <a:r>
              <a:rPr sz="3800" spc="3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800" spc="110" dirty="0">
                <a:solidFill>
                  <a:schemeClr val="bg1"/>
                </a:solidFill>
                <a:latin typeface="Times New Roman"/>
                <a:cs typeface="Times New Roman"/>
              </a:rPr>
              <a:t>Trends</a:t>
            </a:r>
            <a:r>
              <a:rPr sz="3800" spc="3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chemeClr val="bg1"/>
                </a:solidFill>
                <a:latin typeface="Times New Roman"/>
                <a:cs typeface="Times New Roman"/>
              </a:rPr>
              <a:t>Analysis</a:t>
            </a:r>
            <a:endParaRPr sz="3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3391" y="4735338"/>
            <a:ext cx="4425218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660400" algn="l"/>
                <a:tab pos="1437640" algn="l"/>
                <a:tab pos="2733040" algn="l"/>
              </a:tabLst>
            </a:pPr>
            <a:r>
              <a:rPr lang="en-IN" sz="1700" spc="-20" dirty="0">
                <a:solidFill>
                  <a:srgbClr val="FE9226"/>
                </a:solidFill>
                <a:latin typeface="Courier New"/>
                <a:cs typeface="Courier New"/>
              </a:rPr>
              <a:t> </a:t>
            </a:r>
            <a:r>
              <a:rPr lang="en-IN" sz="1700" b="1" spc="-20" dirty="0">
                <a:solidFill>
                  <a:srgbClr val="FE9226"/>
                </a:solidFill>
                <a:latin typeface="Courier New"/>
                <a:cs typeface="Courier New"/>
              </a:rPr>
              <a:t>Manasi Khanolkar</a:t>
            </a:r>
            <a:r>
              <a:rPr sz="1700" b="1" spc="-10" dirty="0">
                <a:solidFill>
                  <a:srgbClr val="FE9226"/>
                </a:solidFill>
                <a:latin typeface="Courier New"/>
                <a:cs typeface="Courier New"/>
              </a:rPr>
              <a:t>(</a:t>
            </a:r>
            <a:r>
              <a:rPr lang="en-IN" sz="1700" b="1" spc="-10" dirty="0">
                <a:solidFill>
                  <a:srgbClr val="FE9226"/>
                </a:solidFill>
                <a:latin typeface="Courier New"/>
                <a:cs typeface="Courier New"/>
              </a:rPr>
              <a:t>29 January </a:t>
            </a:r>
            <a:r>
              <a:rPr sz="1700" b="1" spc="-10" dirty="0">
                <a:solidFill>
                  <a:srgbClr val="FE9226"/>
                </a:solidFill>
                <a:latin typeface="Courier New"/>
                <a:cs typeface="Courier New"/>
              </a:rPr>
              <a:t>202</a:t>
            </a:r>
            <a:r>
              <a:rPr lang="en-IN" sz="1700" b="1" spc="-10" dirty="0">
                <a:solidFill>
                  <a:srgbClr val="FE9226"/>
                </a:solidFill>
                <a:latin typeface="Courier New"/>
                <a:cs typeface="Courier New"/>
              </a:rPr>
              <a:t>6</a:t>
            </a:r>
            <a:r>
              <a:rPr sz="1700" b="1" spc="-10" dirty="0">
                <a:solidFill>
                  <a:srgbClr val="FE9226"/>
                </a:solidFill>
                <a:latin typeface="Courier New"/>
                <a:cs typeface="Courier New"/>
              </a:rPr>
              <a:t>)</a:t>
            </a:r>
            <a:endParaRPr sz="1700" b="1" dirty="0">
              <a:solidFill>
                <a:srgbClr val="FE9226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710" y="2025671"/>
            <a:ext cx="3194580" cy="31945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236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50940" y="1761609"/>
            <a:ext cx="3489960" cy="34810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5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Executive</a:t>
            </a:r>
            <a:r>
              <a:rPr sz="2200" b="1" spc="1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 </a:t>
            </a:r>
            <a:r>
              <a:rPr sz="2200" b="1" spc="13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Summary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8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Introduction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13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Methodology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12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Results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Visualization</a:t>
            </a:r>
            <a:r>
              <a:rPr sz="1800" b="1" spc="5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 </a:t>
            </a:r>
            <a:r>
              <a:rPr sz="1800" b="1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–</a:t>
            </a:r>
            <a:r>
              <a:rPr sz="1800" b="1" spc="6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 </a:t>
            </a:r>
            <a:r>
              <a:rPr sz="1800" b="1" spc="1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Charts</a:t>
            </a:r>
            <a:endParaRPr sz="1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b="1" spc="1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Dashboard</a:t>
            </a:r>
            <a:endParaRPr sz="1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16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Discussion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b="1" spc="114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Findings</a:t>
            </a:r>
            <a:r>
              <a:rPr sz="1800" b="1" spc="5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 </a:t>
            </a:r>
            <a:r>
              <a:rPr sz="1800" b="1" spc="6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&amp;</a:t>
            </a:r>
            <a:r>
              <a:rPr sz="1800" b="1" spc="5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 </a:t>
            </a:r>
            <a:r>
              <a:rPr sz="1800" b="1" spc="8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Implications</a:t>
            </a:r>
            <a:endParaRPr sz="1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1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rebuchet MS"/>
              </a:rPr>
              <a:t>Conclusion</a:t>
            </a:r>
            <a:endParaRPr sz="2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9280" y="819311"/>
            <a:ext cx="180000" cy="360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119" y="782951"/>
            <a:ext cx="180000" cy="360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8159" y="746232"/>
            <a:ext cx="18288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264">
              <a:lnSpc>
                <a:spcPct val="100000"/>
              </a:lnSpc>
              <a:spcBef>
                <a:spcPts val="100"/>
              </a:spcBef>
            </a:pPr>
            <a:r>
              <a:rPr lang="en-IN" b="1" spc="3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Arial"/>
              </a:rPr>
              <a:t>EXECUTIVE   SUMMARY  </a:t>
            </a:r>
            <a:endParaRPr b="1" spc="3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1219" y="1595272"/>
            <a:ext cx="10668000" cy="288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marR="394970" indent="-180975">
              <a:lnSpc>
                <a:spcPct val="115700"/>
              </a:lnSpc>
              <a:spcBef>
                <a:spcPts val="100"/>
              </a:spcBef>
              <a:buFont typeface="Arial MT"/>
              <a:buChar char="•"/>
              <a:tabLst>
                <a:tab pos="193040" algn="l"/>
              </a:tabLst>
            </a:pPr>
            <a:r>
              <a:rPr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Key</a:t>
            </a:r>
            <a:r>
              <a:rPr sz="1800" b="1" spc="3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b="1" spc="-5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Technology</a:t>
            </a:r>
            <a:r>
              <a:rPr sz="1800" b="1" spc="3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b="1" spc="-8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Trends:</a:t>
            </a:r>
            <a:r>
              <a:rPr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dirty="0">
                <a:latin typeface="+mn-lt"/>
                <a:cs typeface="Arial MT"/>
              </a:rPr>
              <a:t>Python,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spc="-30" dirty="0">
                <a:latin typeface="+mn-lt"/>
                <a:cs typeface="Arial MT"/>
              </a:rPr>
              <a:t>SQL,</a:t>
            </a:r>
            <a:r>
              <a:rPr sz="1800" dirty="0">
                <a:latin typeface="+mn-lt"/>
                <a:cs typeface="Arial MT"/>
              </a:rPr>
              <a:t> and </a:t>
            </a:r>
            <a:r>
              <a:rPr sz="1800" spc="-20" dirty="0">
                <a:latin typeface="+mn-lt"/>
                <a:cs typeface="Arial MT"/>
              </a:rPr>
              <a:t>JavaScript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dominate current programming usage,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while MySQL,</a:t>
            </a:r>
            <a:r>
              <a:rPr sz="1800" spc="-15" dirty="0">
                <a:latin typeface="+mn-lt"/>
                <a:cs typeface="Arial MT"/>
              </a:rPr>
              <a:t> </a:t>
            </a:r>
            <a:r>
              <a:rPr sz="1800" spc="-25" dirty="0">
                <a:latin typeface="+mn-lt"/>
                <a:cs typeface="Arial MT"/>
              </a:rPr>
              <a:t>PostgreSQL,</a:t>
            </a:r>
            <a:r>
              <a:rPr sz="1800" spc="-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</a:t>
            </a:r>
            <a:r>
              <a:rPr sz="1800" spc="-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Microsoft</a:t>
            </a:r>
            <a:r>
              <a:rPr sz="1800" spc="-10" dirty="0">
                <a:latin typeface="+mn-lt"/>
                <a:cs typeface="Arial MT"/>
              </a:rPr>
              <a:t> </a:t>
            </a:r>
            <a:r>
              <a:rPr sz="1800" spc="-50" dirty="0">
                <a:latin typeface="+mn-lt"/>
                <a:cs typeface="Arial MT"/>
              </a:rPr>
              <a:t>SQL</a:t>
            </a:r>
            <a:r>
              <a:rPr sz="1800" spc="-15" dirty="0">
                <a:latin typeface="+mn-lt"/>
                <a:cs typeface="Arial MT"/>
              </a:rPr>
              <a:t> </a:t>
            </a:r>
            <a:r>
              <a:rPr sz="1800" spc="-30" dirty="0">
                <a:latin typeface="+mn-lt"/>
                <a:cs typeface="Arial MT"/>
              </a:rPr>
              <a:t>Server</a:t>
            </a:r>
            <a:r>
              <a:rPr sz="1800" spc="-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lead</a:t>
            </a:r>
            <a:r>
              <a:rPr sz="1800" spc="-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database</a:t>
            </a:r>
            <a:r>
              <a:rPr sz="1800" spc="-1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adoption.</a:t>
            </a:r>
            <a:endParaRPr sz="1800" dirty="0">
              <a:latin typeface="+mn-lt"/>
              <a:cs typeface="Arial MT"/>
            </a:endParaRPr>
          </a:p>
          <a:p>
            <a:pPr marL="193040" indent="-180340">
              <a:lnSpc>
                <a:spcPct val="100000"/>
              </a:lnSpc>
              <a:spcBef>
                <a:spcPts val="340"/>
              </a:spcBef>
              <a:buChar char="•"/>
              <a:tabLst>
                <a:tab pos="193040" algn="l"/>
              </a:tabLst>
            </a:pPr>
            <a:r>
              <a:rPr sz="1800" dirty="0">
                <a:latin typeface="+mn-lt"/>
                <a:cs typeface="Arial MT"/>
              </a:rPr>
              <a:t>Anticipated</a:t>
            </a:r>
            <a:r>
              <a:rPr sz="1800" spc="28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growth</a:t>
            </a:r>
            <a:r>
              <a:rPr sz="1800" spc="28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areas</a:t>
            </a:r>
            <a:endParaRPr sz="1800" dirty="0">
              <a:latin typeface="+mn-lt"/>
              <a:cs typeface="Arial MT"/>
            </a:endParaRPr>
          </a:p>
          <a:p>
            <a:pPr marL="574040" lvl="1" indent="-180340">
              <a:lnSpc>
                <a:spcPct val="100000"/>
              </a:lnSpc>
              <a:spcBef>
                <a:spcPts val="340"/>
              </a:spcBef>
              <a:buChar char="•"/>
              <a:tabLst>
                <a:tab pos="574040" algn="l"/>
              </a:tabLst>
            </a:pPr>
            <a:r>
              <a:rPr sz="1800" dirty="0">
                <a:latin typeface="+mn-lt"/>
                <a:cs typeface="Arial MT"/>
              </a:rPr>
              <a:t>Python,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Go,</a:t>
            </a:r>
            <a:r>
              <a:rPr sz="1800" spc="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</a:t>
            </a:r>
            <a:r>
              <a:rPr sz="1800" spc="10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TypeScript.</a:t>
            </a:r>
            <a:endParaRPr sz="1800" dirty="0">
              <a:latin typeface="+mn-lt"/>
              <a:cs typeface="Arial MT"/>
            </a:endParaRPr>
          </a:p>
          <a:p>
            <a:pPr marL="574040" lvl="1" indent="-180340">
              <a:lnSpc>
                <a:spcPct val="100000"/>
              </a:lnSpc>
              <a:spcBef>
                <a:spcPts val="340"/>
              </a:spcBef>
              <a:buChar char="•"/>
              <a:tabLst>
                <a:tab pos="574040" algn="l"/>
              </a:tabLst>
            </a:pPr>
            <a:r>
              <a:rPr sz="1800" spc="-25" dirty="0">
                <a:latin typeface="+mn-lt"/>
                <a:cs typeface="Arial MT"/>
              </a:rPr>
              <a:t>PostgreSQL</a:t>
            </a:r>
            <a:r>
              <a:rPr sz="1800" spc="9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</a:t>
            </a:r>
            <a:r>
              <a:rPr sz="1800" spc="9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MongoDB</a:t>
            </a:r>
            <a:r>
              <a:rPr sz="1800" spc="9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gaining</a:t>
            </a:r>
            <a:r>
              <a:rPr sz="1800" spc="9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traction.</a:t>
            </a:r>
            <a:endParaRPr sz="1800" dirty="0">
              <a:latin typeface="+mn-lt"/>
              <a:cs typeface="Arial MT"/>
            </a:endParaRPr>
          </a:p>
          <a:p>
            <a:pPr marL="193040" marR="5080" indent="-180975">
              <a:lnSpc>
                <a:spcPct val="115700"/>
              </a:lnSpc>
              <a:buFont typeface="Arial MT"/>
              <a:buChar char="•"/>
              <a:tabLst>
                <a:tab pos="193040" algn="l"/>
              </a:tabLst>
            </a:pPr>
            <a:r>
              <a:rPr sz="1800" b="1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Dashboard</a:t>
            </a:r>
            <a:r>
              <a:rPr sz="1800" b="1" spc="3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b="1" spc="-5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Insights:</a:t>
            </a:r>
            <a:r>
              <a:rPr sz="1800" b="1" spc="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dirty="0">
                <a:latin typeface="+mn-lt"/>
                <a:cs typeface="Arial MT"/>
              </a:rPr>
              <a:t>Most respondents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are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aged 18–34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with </a:t>
            </a:r>
            <a:r>
              <a:rPr sz="1800" spc="-30" dirty="0">
                <a:latin typeface="+mn-lt"/>
                <a:cs typeface="Arial MT"/>
              </a:rPr>
              <a:t>Bachelor’s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or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spc="-30" dirty="0">
                <a:latin typeface="+mn-lt"/>
                <a:cs typeface="Arial MT"/>
              </a:rPr>
              <a:t>Master’s</a:t>
            </a:r>
            <a:r>
              <a:rPr sz="1800" dirty="0">
                <a:latin typeface="+mn-lt"/>
                <a:cs typeface="Arial MT"/>
              </a:rPr>
              <a:t> degrees,</a:t>
            </a:r>
            <a:r>
              <a:rPr sz="1800" spc="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 </a:t>
            </a:r>
            <a:r>
              <a:rPr sz="1800" spc="-10" dirty="0">
                <a:latin typeface="+mn-lt"/>
                <a:cs typeface="Arial MT"/>
              </a:rPr>
              <a:t>cloud </a:t>
            </a:r>
            <a:r>
              <a:rPr sz="1800" dirty="0">
                <a:latin typeface="+mn-lt"/>
                <a:cs typeface="Arial MT"/>
              </a:rPr>
              <a:t>platforms</a:t>
            </a:r>
            <a:r>
              <a:rPr sz="1800" spc="30" dirty="0">
                <a:latin typeface="+mn-lt"/>
                <a:cs typeface="Arial MT"/>
              </a:rPr>
              <a:t> </a:t>
            </a:r>
            <a:r>
              <a:rPr sz="1800" spc="-55" dirty="0">
                <a:latin typeface="+mn-lt"/>
                <a:cs typeface="Arial MT"/>
              </a:rPr>
              <a:t>(AWS,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Azure,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Google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Cloud)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are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in</a:t>
            </a:r>
            <a:r>
              <a:rPr sz="1800" spc="3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high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demand.</a:t>
            </a:r>
            <a:endParaRPr sz="1800" dirty="0">
              <a:latin typeface="+mn-lt"/>
              <a:cs typeface="Arial MT"/>
            </a:endParaRPr>
          </a:p>
          <a:p>
            <a:pPr marL="193040" marR="174625" indent="-180975">
              <a:lnSpc>
                <a:spcPct val="115700"/>
              </a:lnSpc>
              <a:buFont typeface="Arial MT"/>
              <a:buChar char="•"/>
              <a:tabLst>
                <a:tab pos="193040" algn="l"/>
              </a:tabLst>
            </a:pPr>
            <a:r>
              <a:rPr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Strategic</a:t>
            </a:r>
            <a:r>
              <a:rPr sz="1800" b="1" spc="4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b="1" spc="-4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Implications:</a:t>
            </a:r>
            <a:r>
              <a:rPr sz="1800" b="1" spc="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</a:rPr>
              <a:t> </a:t>
            </a:r>
            <a:r>
              <a:rPr sz="1800" dirty="0">
                <a:latin typeface="+mn-lt"/>
                <a:cs typeface="Arial MT"/>
              </a:rPr>
              <a:t>Focusing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on</a:t>
            </a:r>
            <a:r>
              <a:rPr sz="1800" spc="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Python,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spc="-25" dirty="0">
                <a:latin typeface="+mn-lt"/>
                <a:cs typeface="Arial MT"/>
              </a:rPr>
              <a:t>PostgreSQL,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</a:t>
            </a:r>
            <a:r>
              <a:rPr sz="1800" spc="10" dirty="0">
                <a:latin typeface="+mn-lt"/>
                <a:cs typeface="Arial MT"/>
              </a:rPr>
              <a:t> </a:t>
            </a:r>
            <a:r>
              <a:rPr sz="1800" spc="-20" dirty="0">
                <a:latin typeface="+mn-lt"/>
                <a:cs typeface="Arial MT"/>
              </a:rPr>
              <a:t>scalable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cloud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platforms</a:t>
            </a:r>
            <a:r>
              <a:rPr sz="1800" spc="1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will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align</a:t>
            </a:r>
            <a:r>
              <a:rPr sz="1800" spc="15" dirty="0">
                <a:latin typeface="+mn-lt"/>
                <a:cs typeface="Arial MT"/>
              </a:rPr>
              <a:t> </a:t>
            </a:r>
            <a:r>
              <a:rPr sz="1800" spc="-20" dirty="0">
                <a:latin typeface="+mn-lt"/>
                <a:cs typeface="Arial MT"/>
              </a:rPr>
              <a:t>with </a:t>
            </a:r>
            <a:r>
              <a:rPr sz="1800" spc="60" dirty="0">
                <a:latin typeface="+mn-lt"/>
                <a:cs typeface="Arial MT"/>
              </a:rPr>
              <a:t>both</a:t>
            </a:r>
            <a:r>
              <a:rPr sz="1800" spc="2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current</a:t>
            </a:r>
            <a:r>
              <a:rPr sz="1800" spc="4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usage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and</a:t>
            </a:r>
            <a:r>
              <a:rPr sz="1800" spc="40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future</a:t>
            </a:r>
            <a:r>
              <a:rPr sz="1800" spc="35" dirty="0">
                <a:latin typeface="+mn-lt"/>
                <a:cs typeface="Arial MT"/>
              </a:rPr>
              <a:t> </a:t>
            </a:r>
            <a:r>
              <a:rPr sz="1800" dirty="0">
                <a:latin typeface="+mn-lt"/>
                <a:cs typeface="Arial MT"/>
              </a:rPr>
              <a:t>developer</a:t>
            </a:r>
            <a:r>
              <a:rPr sz="1800" spc="40" dirty="0">
                <a:latin typeface="+mn-lt"/>
                <a:cs typeface="Arial MT"/>
              </a:rPr>
              <a:t> </a:t>
            </a:r>
            <a:r>
              <a:rPr sz="1800" spc="-10" dirty="0">
                <a:latin typeface="+mn-lt"/>
                <a:cs typeface="Arial MT"/>
              </a:rPr>
              <a:t>preferences.</a:t>
            </a:r>
            <a:endParaRPr sz="1800" dirty="0">
              <a:latin typeface="+mn-l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0885" y="4366198"/>
            <a:ext cx="1809823" cy="18098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4035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919" y="1378132"/>
            <a:ext cx="10546080" cy="341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This project analyzes global developer survey data to explore trends in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programming languages, databases, cloud platforms, and developer demographics</a:t>
            </a:r>
            <a:r>
              <a:rPr lang="en-US" sz="2000" dirty="0">
                <a:latin typeface="+mn-lt"/>
              </a:rPr>
              <a:t>. Using interactive dashboards, the study highlights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current technology usage, future preferences, and education levels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across the developer community.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objective is to provide a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clear and data-driven view of technology adoption trends</a:t>
            </a:r>
            <a:r>
              <a:rPr lang="en-US" sz="2000" dirty="0">
                <a:latin typeface="+mn-lt"/>
              </a:rPr>
              <a:t> and developer distribution, enabling strategic insights for learners, educators, and organizations. These insights help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identify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in-demand skills, emerging technologies, and potential opportunities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in the evolving tech landscape</a:t>
            </a:r>
            <a:r>
              <a:rPr lang="en-US" sz="2000" dirty="0"/>
              <a:t>.</a:t>
            </a:r>
          </a:p>
          <a:p>
            <a:pPr marL="212725" marR="1281430" indent="-20066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12725" algn="l"/>
              </a:tabLst>
            </a:pPr>
            <a:endParaRPr sz="2000" dirty="0">
              <a:latin typeface="+mn-l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3731" y="4172769"/>
            <a:ext cx="1864781" cy="172651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19197" y="6625382"/>
            <a:ext cx="274955" cy="233045"/>
            <a:chOff x="919197" y="6625382"/>
            <a:chExt cx="274955" cy="2330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97" y="6625382"/>
              <a:ext cx="274391" cy="2326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872" y="6673007"/>
              <a:ext cx="141041" cy="1082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85872" y="6673007"/>
              <a:ext cx="141605" cy="108585"/>
            </a:xfrm>
            <a:custGeom>
              <a:avLst/>
              <a:gdLst/>
              <a:ahLst/>
              <a:cxnLst/>
              <a:rect l="l" t="t" r="r" b="b"/>
              <a:pathLst>
                <a:path w="141605" h="108584">
                  <a:moveTo>
                    <a:pt x="0" y="0"/>
                  </a:moveTo>
                  <a:lnTo>
                    <a:pt x="141041" y="0"/>
                  </a:lnTo>
                  <a:lnTo>
                    <a:pt x="141041" y="108257"/>
                  </a:lnTo>
                  <a:lnTo>
                    <a:pt x="0" y="10825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6C4DEA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1" y="697388"/>
            <a:ext cx="382668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530" y="1413342"/>
            <a:ext cx="7850505" cy="369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Source: </a:t>
            </a:r>
            <a:r>
              <a:rPr sz="1400" spc="-10" dirty="0">
                <a:latin typeface="Times New Roman"/>
                <a:cs typeface="Times New Roman"/>
              </a:rPr>
              <a:t>survey_data_updated.csv</a:t>
            </a:r>
            <a:r>
              <a:rPr sz="1400" dirty="0">
                <a:latin typeface="Times New Roman"/>
                <a:cs typeface="Times New Roman"/>
              </a:rPr>
              <a:t> (developer survey </a:t>
            </a:r>
            <a:r>
              <a:rPr sz="1400" spc="-10" dirty="0">
                <a:latin typeface="Times New Roman"/>
                <a:cs typeface="Times New Roman"/>
              </a:rPr>
              <a:t>responses).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Preparation:</a:t>
            </a:r>
            <a:endParaRPr sz="14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20"/>
              </a:spcBef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Removed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duplicates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missing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values.</a:t>
            </a:r>
            <a:endParaRPr sz="1400" dirty="0">
              <a:latin typeface="Times New Roman"/>
              <a:cs typeface="Times New Roman"/>
            </a:endParaRPr>
          </a:p>
          <a:p>
            <a:pPr marL="12700" marR="347345" indent="456565">
              <a:lnSpc>
                <a:spcPct val="178600"/>
              </a:lnSpc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Split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multi-value</a:t>
            </a:r>
            <a:r>
              <a:rPr sz="1400" spc="-10" dirty="0">
                <a:latin typeface="Times New Roman"/>
                <a:cs typeface="Times New Roman"/>
              </a:rPr>
              <a:t> fields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(e.g.,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LanguageHaveWorkedWith</a:t>
            </a:r>
            <a:r>
              <a:rPr sz="1400" spc="-20" dirty="0">
                <a:latin typeface="Times New Roman"/>
                <a:cs typeface="Times New Roman"/>
              </a:rPr>
              <a:t>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separate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rows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10" dirty="0">
                <a:latin typeface="Times New Roman"/>
                <a:cs typeface="Times New Roman"/>
              </a:rPr>
              <a:t> counting. Tools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Used:</a:t>
            </a:r>
            <a:endParaRPr sz="14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20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Excel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cleaning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wrangling.</a:t>
            </a:r>
            <a:endParaRPr sz="1400" dirty="0">
              <a:latin typeface="Times New Roman"/>
              <a:cs typeface="Times New Roman"/>
            </a:endParaRPr>
          </a:p>
          <a:p>
            <a:pPr marL="12700" marR="2630805" indent="456565">
              <a:lnSpc>
                <a:spcPct val="182100"/>
              </a:lnSpc>
              <a:buFont typeface="Times New Roman"/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IBM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Cognos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Analytics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Building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dashboards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visualizations. </a:t>
            </a:r>
            <a:r>
              <a:rPr sz="1400" dirty="0">
                <a:latin typeface="Times New Roman"/>
                <a:cs typeface="Times New Roman"/>
              </a:rPr>
              <a:t>Dashboard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Design:</a:t>
            </a:r>
            <a:endParaRPr sz="14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20"/>
              </a:spcBef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Created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tabs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Current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Technology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Usage,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Technology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Trends,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Demographics.</a:t>
            </a:r>
            <a:endParaRPr sz="1400" dirty="0">
              <a:latin typeface="Times New Roman"/>
              <a:cs typeface="Times New Roman"/>
            </a:endParaRPr>
          </a:p>
          <a:p>
            <a:pPr marL="469265" indent="-316865">
              <a:lnSpc>
                <a:spcPct val="100000"/>
              </a:lnSpc>
              <a:spcBef>
                <a:spcPts val="1380"/>
              </a:spcBef>
              <a:buChar char="•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Applied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appropriate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chart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(bar,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column,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cloud,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treemap,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pie,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stacked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bar,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line,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map,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bubble).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1648" y="3906441"/>
            <a:ext cx="2259060" cy="2259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762000" y="685800"/>
            <a:ext cx="1135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4035" algn="l"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PROGRAMMING LANGUAGE 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6328" y="1618494"/>
            <a:ext cx="19037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262626"/>
                </a:solidFill>
                <a:latin typeface="Lucida Sans Unicode"/>
                <a:cs typeface="Lucida Sans Unicode"/>
              </a:rPr>
              <a:t>Current</a:t>
            </a:r>
            <a:r>
              <a:rPr sz="240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262626"/>
                </a:solidFill>
                <a:latin typeface="Lucida Sans Unicode"/>
                <a:cs typeface="Lucida Sans Unicode"/>
              </a:rPr>
              <a:t>Year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17059" y="1669507"/>
            <a:ext cx="15938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262626"/>
                </a:solidFill>
                <a:latin typeface="Lucida Sans Unicode"/>
                <a:cs typeface="Lucida Sans Unicode"/>
              </a:rPr>
              <a:t>Next</a:t>
            </a:r>
            <a:r>
              <a:rPr sz="2600" spc="-60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sz="2600" spc="-20" dirty="0">
                <a:solidFill>
                  <a:srgbClr val="262626"/>
                </a:solidFill>
                <a:latin typeface="Lucida Sans Unicode"/>
                <a:cs typeface="Lucida Sans Unicode"/>
              </a:rPr>
              <a:t>Year</a:t>
            </a:r>
            <a:endParaRPr sz="26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917" y="2254782"/>
            <a:ext cx="5701108" cy="31540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0510" y="2220135"/>
            <a:ext cx="5853410" cy="3223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286000" y="-70338"/>
            <a:ext cx="14554200" cy="1369384"/>
          </a:xfrm>
          <a:prstGeom prst="rect">
            <a:avLst/>
          </a:prstGeom>
        </p:spPr>
        <p:txBody>
          <a:bodyPr vert="horz" wrap="square" lIns="0" tIns="136940" rIns="0" bIns="0" rtlCol="0">
            <a:spAutoFit/>
          </a:bodyPr>
          <a:lstStyle/>
          <a:p>
            <a:pPr marL="3074035" algn="l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PROGRAMMING LANGUAGE TRENDS - FINDINGS &amp; 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115" y="2572348"/>
            <a:ext cx="5114290" cy="22059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10160" rIns="0" bIns="0" rtlCol="0">
            <a:spAutoFit/>
          </a:bodyPr>
          <a:lstStyle/>
          <a:p>
            <a:pPr marL="151130" marR="291465" indent="-139065" algn="l">
              <a:lnSpc>
                <a:spcPct val="101200"/>
              </a:lnSpc>
              <a:spcBef>
                <a:spcPts val="80"/>
              </a:spcBef>
              <a:buChar char="•"/>
              <a:tabLst>
                <a:tab pos="153035" algn="l"/>
              </a:tabLst>
            </a:pPr>
            <a:r>
              <a:rPr sz="1400" dirty="0">
                <a:latin typeface="+mn-lt"/>
                <a:cs typeface="Lucida Sans Unicode"/>
              </a:rPr>
              <a:t>Bash/Shell,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C#,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Html/CSS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are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the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most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commonly 	</a:t>
            </a:r>
            <a:r>
              <a:rPr sz="1400" dirty="0">
                <a:latin typeface="+mn-lt"/>
                <a:cs typeface="Lucida Sans Unicode"/>
              </a:rPr>
              <a:t>used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languages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among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developers.</a:t>
            </a:r>
            <a:endParaRPr sz="1400" dirty="0">
              <a:latin typeface="+mn-lt"/>
              <a:cs typeface="Lucida Sans Unicode"/>
            </a:endParaRPr>
          </a:p>
          <a:p>
            <a:pPr marL="151130" marR="120014" indent="-139065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53035" algn="l"/>
              </a:tabLst>
            </a:pPr>
            <a:r>
              <a:rPr sz="1400" dirty="0">
                <a:latin typeface="+mn-lt"/>
                <a:cs typeface="Lucida Sans Unicode"/>
              </a:rPr>
              <a:t>Intrust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to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learn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increases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for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each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Language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but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Future 	</a:t>
            </a:r>
            <a:r>
              <a:rPr sz="1400" dirty="0">
                <a:latin typeface="+mn-lt"/>
                <a:cs typeface="Lucida Sans Unicode"/>
              </a:rPr>
              <a:t>interest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shifts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more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toward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Go,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C++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C#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—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showing 	</a:t>
            </a:r>
            <a:r>
              <a:rPr sz="1400" dirty="0">
                <a:latin typeface="+mn-lt"/>
                <a:cs typeface="Lucida Sans Unicode"/>
              </a:rPr>
              <a:t>demand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for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modern,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versatile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languages.</a:t>
            </a:r>
            <a:endParaRPr sz="1400" dirty="0">
              <a:latin typeface="+mn-lt"/>
              <a:cs typeface="Lucida Sans Unicode"/>
            </a:endParaRPr>
          </a:p>
          <a:p>
            <a:pPr marL="151130" marR="419734" indent="-139065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53035" algn="l"/>
              </a:tabLst>
            </a:pPr>
            <a:r>
              <a:rPr sz="1400" dirty="0">
                <a:latin typeface="+mn-lt"/>
                <a:cs typeface="Lucida Sans Unicode"/>
              </a:rPr>
              <a:t>Traditional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languages</a:t>
            </a:r>
            <a:r>
              <a:rPr sz="1400" spc="-3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(Bash/Shell,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Html/CSS)</a:t>
            </a:r>
            <a:r>
              <a:rPr sz="1400" spc="-3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remain 	</a:t>
            </a:r>
            <a:r>
              <a:rPr sz="1400" dirty="0">
                <a:latin typeface="+mn-lt"/>
                <a:cs typeface="Lucida Sans Unicode"/>
              </a:rPr>
              <a:t>steady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but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are</a:t>
            </a:r>
            <a:r>
              <a:rPr sz="1400" spc="-1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less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preferred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by</a:t>
            </a:r>
            <a:r>
              <a:rPr sz="1400" spc="-1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newer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developers.</a:t>
            </a:r>
            <a:endParaRPr sz="1400" dirty="0">
              <a:latin typeface="+mn-lt"/>
              <a:cs typeface="Lucida Sans Unicode"/>
            </a:endParaRPr>
          </a:p>
          <a:p>
            <a:pPr marL="151130" marR="5080" indent="-139065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53035" algn="l"/>
              </a:tabLst>
            </a:pPr>
            <a:r>
              <a:rPr sz="1400" dirty="0">
                <a:latin typeface="+mn-lt"/>
                <a:cs typeface="Lucida Sans Unicode"/>
              </a:rPr>
              <a:t>Where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Python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java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shows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slightly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more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demand</a:t>
            </a:r>
            <a:r>
              <a:rPr sz="1400" spc="-25" dirty="0">
                <a:latin typeface="+mn-lt"/>
                <a:cs typeface="Lucida Sans Unicode"/>
              </a:rPr>
              <a:t> in </a:t>
            </a:r>
            <a:r>
              <a:rPr lang="en-IN" sz="1400" spc="-2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future.</a:t>
            </a:r>
            <a:endParaRPr sz="1400" dirty="0">
              <a:latin typeface="+mn-lt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600" y="1446961"/>
            <a:ext cx="1371599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 anchor="b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Findings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2534989"/>
            <a:ext cx="5020945" cy="30764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10160" rIns="0" bIns="0" rtlCol="0">
            <a:spAutoFit/>
          </a:bodyPr>
          <a:lstStyle/>
          <a:p>
            <a:pPr marL="130810" marR="120650" indent="-125730" algn="l">
              <a:lnSpc>
                <a:spcPct val="101200"/>
              </a:lnSpc>
              <a:spcBef>
                <a:spcPts val="80"/>
              </a:spcBef>
              <a:buChar char="•"/>
              <a:tabLst>
                <a:tab pos="132715" algn="l"/>
              </a:tabLst>
            </a:pPr>
            <a:r>
              <a:rPr sz="1400" dirty="0">
                <a:latin typeface="+mn-lt"/>
                <a:cs typeface="Lucida Sans Unicode"/>
              </a:rPr>
              <a:t>Companies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should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continue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to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invest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in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C#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talent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since </a:t>
            </a:r>
            <a:r>
              <a:rPr sz="1400" dirty="0">
                <a:latin typeface="+mn-lt"/>
                <a:cs typeface="Lucida Sans Unicode"/>
              </a:rPr>
              <a:t>it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shows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both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strong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current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use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growing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future 	interest.</a:t>
            </a:r>
            <a:endParaRPr sz="1400" dirty="0">
              <a:latin typeface="+mn-lt"/>
              <a:cs typeface="Lucida Sans Unicode"/>
            </a:endParaRPr>
          </a:p>
          <a:p>
            <a:pPr marL="130810" marR="243840" indent="-125730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sz="1400" dirty="0">
                <a:latin typeface="+mn-lt"/>
                <a:cs typeface="Lucida Sans Unicode"/>
              </a:rPr>
              <a:t>Go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C++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are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rising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in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demand,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so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organizations 	</a:t>
            </a:r>
            <a:r>
              <a:rPr sz="1400" dirty="0">
                <a:latin typeface="+mn-lt"/>
                <a:cs typeface="Lucida Sans Unicode"/>
              </a:rPr>
              <a:t>should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prepare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training</a:t>
            </a:r>
            <a:r>
              <a:rPr sz="1400" spc="-3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projects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that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adopt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these 	</a:t>
            </a:r>
            <a:r>
              <a:rPr sz="1400" dirty="0">
                <a:latin typeface="+mn-lt"/>
                <a:cs typeface="Lucida Sans Unicode"/>
              </a:rPr>
              <a:t>modern,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versatile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languages.</a:t>
            </a:r>
            <a:endParaRPr sz="1400" dirty="0">
              <a:latin typeface="+mn-lt"/>
              <a:cs typeface="Lucida Sans Unicode"/>
            </a:endParaRPr>
          </a:p>
          <a:p>
            <a:pPr marL="130810" marR="209550" indent="-125730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sz="1400" dirty="0">
                <a:latin typeface="+mn-lt"/>
                <a:cs typeface="Lucida Sans Unicode"/>
              </a:rPr>
              <a:t>As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Bash/Shell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HTML/CSS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remain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steady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but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spc="-20" dirty="0">
                <a:latin typeface="+mn-lt"/>
                <a:cs typeface="Lucida Sans Unicode"/>
              </a:rPr>
              <a:t>less 	</a:t>
            </a:r>
            <a:r>
              <a:rPr sz="1400" dirty="0">
                <a:latin typeface="+mn-lt"/>
                <a:cs typeface="Lucida Sans Unicode"/>
              </a:rPr>
              <a:t>desired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by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newer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developers,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teams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may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use</a:t>
            </a:r>
            <a:r>
              <a:rPr sz="1400" spc="-1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them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spc="-25" dirty="0">
                <a:latin typeface="+mn-lt"/>
                <a:cs typeface="Lucida Sans Unicode"/>
              </a:rPr>
              <a:t>for 	</a:t>
            </a:r>
            <a:r>
              <a:rPr sz="1400" dirty="0">
                <a:latin typeface="+mn-lt"/>
                <a:cs typeface="Lucida Sans Unicode"/>
              </a:rPr>
              <a:t>legacy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systems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but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shift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focus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toward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scalable 	</a:t>
            </a:r>
            <a:r>
              <a:rPr sz="1400" dirty="0">
                <a:latin typeface="+mn-lt"/>
                <a:cs typeface="Lucida Sans Unicode"/>
              </a:rPr>
              <a:t>languages</a:t>
            </a:r>
            <a:r>
              <a:rPr sz="1400" spc="-3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for</a:t>
            </a:r>
            <a:r>
              <a:rPr sz="1400" spc="-3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future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development.</a:t>
            </a:r>
            <a:endParaRPr sz="1400" dirty="0">
              <a:latin typeface="+mn-lt"/>
              <a:cs typeface="Lucida Sans Unicode"/>
            </a:endParaRPr>
          </a:p>
          <a:p>
            <a:pPr marL="130810" marR="5080" indent="-125730" algn="l">
              <a:lnSpc>
                <a:spcPct val="101200"/>
              </a:lnSpc>
              <a:spcBef>
                <a:spcPts val="1200"/>
              </a:spcBef>
              <a:buChar char="•"/>
              <a:tabLst>
                <a:tab pos="132715" algn="l"/>
              </a:tabLst>
            </a:pPr>
            <a:r>
              <a:rPr sz="1400" dirty="0">
                <a:latin typeface="+mn-lt"/>
                <a:cs typeface="Lucida Sans Unicode"/>
              </a:rPr>
              <a:t>Education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providers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should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emphasize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C#,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Go,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C++ 	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even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python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and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Java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in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learning</a:t>
            </a:r>
            <a:r>
              <a:rPr sz="1400" spc="-3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paths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to</a:t>
            </a:r>
            <a:r>
              <a:rPr sz="1400" spc="-20" dirty="0">
                <a:latin typeface="+mn-lt"/>
                <a:cs typeface="Lucida Sans Unicode"/>
              </a:rPr>
              <a:t> </a:t>
            </a:r>
            <a:r>
              <a:rPr sz="1400" dirty="0">
                <a:latin typeface="+mn-lt"/>
                <a:cs typeface="Lucida Sans Unicode"/>
              </a:rPr>
              <a:t>align</a:t>
            </a:r>
            <a:r>
              <a:rPr sz="1400" spc="-25" dirty="0">
                <a:latin typeface="+mn-lt"/>
                <a:cs typeface="Lucida Sans Unicode"/>
              </a:rPr>
              <a:t> </a:t>
            </a:r>
            <a:r>
              <a:rPr sz="1400" spc="-20" dirty="0">
                <a:latin typeface="+mn-lt"/>
                <a:cs typeface="Lucida Sans Unicode"/>
              </a:rPr>
              <a:t>with 	</a:t>
            </a:r>
            <a:r>
              <a:rPr sz="1400" dirty="0">
                <a:latin typeface="+mn-lt"/>
                <a:cs typeface="Lucida Sans Unicode"/>
              </a:rPr>
              <a:t>industry</a:t>
            </a:r>
            <a:r>
              <a:rPr sz="1400" spc="-40" dirty="0">
                <a:latin typeface="+mn-lt"/>
                <a:cs typeface="Lucida Sans Unicode"/>
              </a:rPr>
              <a:t> </a:t>
            </a:r>
            <a:r>
              <a:rPr sz="1400" spc="-10" dirty="0">
                <a:latin typeface="+mn-lt"/>
                <a:cs typeface="Lucida Sans Unicode"/>
              </a:rPr>
              <a:t>needs.</a:t>
            </a:r>
            <a:endParaRPr sz="1400" dirty="0">
              <a:latin typeface="+mn-lt"/>
              <a:cs typeface="Lucida Sans Unicode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7DCAE43-8FE9-C206-91B8-7B552A2E2160}"/>
              </a:ext>
            </a:extLst>
          </p:cNvPr>
          <p:cNvSpPr txBox="1"/>
          <p:nvPr/>
        </p:nvSpPr>
        <p:spPr>
          <a:xfrm>
            <a:off x="7696200" y="1446961"/>
            <a:ext cx="1905000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Implications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DATABASE 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9424" y="1654567"/>
            <a:ext cx="20783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solidFill>
                  <a:srgbClr val="262626"/>
                </a:solidFill>
                <a:latin typeface="Lucida Sans Unicode"/>
                <a:cs typeface="Lucida Sans Unicode"/>
              </a:rPr>
              <a:t>Current</a:t>
            </a:r>
            <a:r>
              <a:rPr sz="2600" spc="90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sz="2600" spc="-20" dirty="0">
                <a:solidFill>
                  <a:srgbClr val="262626"/>
                </a:solidFill>
                <a:latin typeface="Lucida Sans Unicode"/>
                <a:cs typeface="Lucida Sans Unicode"/>
              </a:rPr>
              <a:t>Year</a:t>
            </a:r>
            <a:endParaRPr sz="26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0765" y="1646174"/>
            <a:ext cx="15938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262626"/>
                </a:solidFill>
                <a:latin typeface="Lucida Sans Unicode"/>
                <a:cs typeface="Lucida Sans Unicode"/>
              </a:rPr>
              <a:t>Next</a:t>
            </a:r>
            <a:r>
              <a:rPr sz="2600" spc="-60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sz="2600" spc="-20" dirty="0">
                <a:solidFill>
                  <a:srgbClr val="262626"/>
                </a:solidFill>
                <a:latin typeface="Lucida Sans Unicode"/>
                <a:cs typeface="Lucida Sans Unicode"/>
              </a:rPr>
              <a:t>Year</a:t>
            </a:r>
            <a:endParaRPr sz="26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88" y="2394332"/>
            <a:ext cx="5725062" cy="31932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9368" y="2390045"/>
            <a:ext cx="5796153" cy="3201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668794"/>
            <a:ext cx="1035531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DATABASE TRENDS - FINDINGS &amp; 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451" y="2721274"/>
            <a:ext cx="5566768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Microsoft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SQL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Server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the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most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widely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used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database,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showing 	</a:t>
            </a:r>
            <a:r>
              <a:rPr sz="1600" dirty="0">
                <a:latin typeface="+mn-lt"/>
                <a:cs typeface="Lucida Sans Unicode"/>
              </a:rPr>
              <a:t>strong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industry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adoption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reliability.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451" y="3254674"/>
            <a:ext cx="5451788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PostgreSQL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gaining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popularity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with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developers,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reflecting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its 	</a:t>
            </a:r>
            <a:r>
              <a:rPr sz="1600" dirty="0">
                <a:latin typeface="+mn-lt"/>
                <a:cs typeface="Lucida Sans Unicode"/>
              </a:rPr>
              <a:t>flexibility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advanced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features.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451" y="3788074"/>
            <a:ext cx="4876165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MongoDB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also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highly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preferred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among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non-relational 	</a:t>
            </a:r>
            <a:r>
              <a:rPr sz="1600" dirty="0">
                <a:latin typeface="+mn-lt"/>
                <a:cs typeface="Lucida Sans Unicode"/>
              </a:rPr>
              <a:t>databases,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especially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modern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web</a:t>
            </a:r>
            <a:r>
              <a:rPr sz="1600" spc="-20" dirty="0">
                <a:latin typeface="+mn-lt"/>
                <a:cs typeface="Lucida Sans Unicode"/>
              </a:rPr>
              <a:t> apps.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451" y="4321474"/>
            <a:ext cx="5378027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Future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interest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shifts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more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toward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PostgreSQL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while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older 	</a:t>
            </a:r>
            <a:r>
              <a:rPr sz="1600" dirty="0">
                <a:latin typeface="+mn-lt"/>
                <a:cs typeface="Lucida Sans Unicode"/>
              </a:rPr>
              <a:t>databases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(e.g.,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Microsoft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SQL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Server,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Oracle)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show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stable</a:t>
            </a:r>
            <a:r>
              <a:rPr sz="1600" spc="-25" dirty="0">
                <a:latin typeface="+mn-lt"/>
                <a:cs typeface="Lucida Sans Unicode"/>
              </a:rPr>
              <a:t> but 	</a:t>
            </a:r>
            <a:r>
              <a:rPr sz="1600" dirty="0">
                <a:latin typeface="+mn-lt"/>
                <a:cs typeface="Lucida Sans Unicode"/>
              </a:rPr>
              <a:t>slower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growth.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451" y="5045374"/>
            <a:ext cx="308638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indent="-119380" algn="l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600" dirty="0">
                <a:latin typeface="+mn-lt"/>
                <a:cs typeface="Lucida Sans Unicode"/>
              </a:rPr>
              <a:t>MySQL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is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3rd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most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used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Database.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83256" y="2697707"/>
            <a:ext cx="5756344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Companies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can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continue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leveraging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Microsoft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SQL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Server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25" dirty="0">
                <a:latin typeface="+mn-lt"/>
                <a:cs typeface="Lucida Sans Unicode"/>
              </a:rPr>
              <a:t> its 	</a:t>
            </a:r>
            <a:r>
              <a:rPr sz="1600" dirty="0">
                <a:latin typeface="+mn-lt"/>
                <a:cs typeface="Lucida Sans Unicode"/>
              </a:rPr>
              <a:t>reliability,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but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should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also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plan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modernization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newer 	</a:t>
            </a:r>
            <a:r>
              <a:rPr sz="1600" dirty="0">
                <a:latin typeface="+mn-lt"/>
                <a:cs typeface="Lucida Sans Unicode"/>
              </a:rPr>
              <a:t>developers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shift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preferences.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3257" y="3421607"/>
            <a:ext cx="5796350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PostgreSQL’s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rise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signals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the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need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organizations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invest</a:t>
            </a:r>
            <a:r>
              <a:rPr sz="1600" spc="-25" dirty="0">
                <a:latin typeface="+mn-lt"/>
                <a:cs typeface="Lucida Sans Unicode"/>
              </a:rPr>
              <a:t> in 	</a:t>
            </a:r>
            <a:r>
              <a:rPr sz="1600" dirty="0">
                <a:latin typeface="+mn-lt"/>
                <a:cs typeface="Lucida Sans Unicode"/>
              </a:rPr>
              <a:t>PostgreSQL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talent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migration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strategies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scalable,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flexible 	systems.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3256" y="4145507"/>
            <a:ext cx="5836356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MongoDB’s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popularity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non-</a:t>
            </a:r>
            <a:r>
              <a:rPr sz="1600" dirty="0">
                <a:latin typeface="+mn-lt"/>
                <a:cs typeface="Lucida Sans Unicode"/>
              </a:rPr>
              <a:t>relational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use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cases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highlights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the 	</a:t>
            </a:r>
            <a:r>
              <a:rPr sz="1600" dirty="0">
                <a:latin typeface="+mn-lt"/>
                <a:cs typeface="Lucida Sans Unicode"/>
              </a:rPr>
              <a:t>importance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of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NoSQL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adoption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businesses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focusing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on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big 	</a:t>
            </a:r>
            <a:r>
              <a:rPr sz="1600" dirty="0">
                <a:latin typeface="+mn-lt"/>
                <a:cs typeface="Lucida Sans Unicode"/>
              </a:rPr>
              <a:t>data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web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applications.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3257" y="4869407"/>
            <a:ext cx="5966942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MySQL’s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steady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rank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(3rd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place)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shows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it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remains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practical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and 	</a:t>
            </a:r>
            <a:r>
              <a:rPr sz="1600" spc="-10" dirty="0">
                <a:latin typeface="+mn-lt"/>
                <a:cs typeface="Lucida Sans Unicode"/>
              </a:rPr>
              <a:t>cost-</a:t>
            </a:r>
            <a:r>
              <a:rPr sz="1600" dirty="0">
                <a:latin typeface="+mn-lt"/>
                <a:cs typeface="Lucida Sans Unicode"/>
              </a:rPr>
              <a:t>effective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option,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especially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for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startups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smaller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projects.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3257" y="5402807"/>
            <a:ext cx="5603114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/>
              </a:rPr>
              <a:t>Businesses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heavily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dependent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on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legacy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databases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like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Oracle 	</a:t>
            </a:r>
            <a:r>
              <a:rPr sz="1600" dirty="0">
                <a:latin typeface="+mn-lt"/>
                <a:cs typeface="Lucida Sans Unicode"/>
              </a:rPr>
              <a:t>may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face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talent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shortages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should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balance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legacy 	</a:t>
            </a:r>
            <a:r>
              <a:rPr sz="1600" dirty="0">
                <a:latin typeface="+mn-lt"/>
                <a:cs typeface="Lucida Sans Unicode"/>
              </a:rPr>
              <a:t>maintenance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with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gradual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transition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modern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platforms.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97A12908-9762-CB46-8209-A7015710E330}"/>
              </a:ext>
            </a:extLst>
          </p:cNvPr>
          <p:cNvSpPr txBox="1"/>
          <p:nvPr/>
        </p:nvSpPr>
        <p:spPr>
          <a:xfrm>
            <a:off x="2438400" y="1527892"/>
            <a:ext cx="1371599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 anchor="b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Findings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B560598E-2F48-9A46-0333-4D4E19D9A790}"/>
              </a:ext>
            </a:extLst>
          </p:cNvPr>
          <p:cNvSpPr txBox="1"/>
          <p:nvPr/>
        </p:nvSpPr>
        <p:spPr>
          <a:xfrm>
            <a:off x="7863526" y="1527892"/>
            <a:ext cx="1905000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Implications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Dashboard : Current Technology 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617" y="1464850"/>
            <a:ext cx="8059461" cy="47339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Dashboard : Future Technology 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721" y="1451757"/>
            <a:ext cx="8291254" cy="49884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Dashboard : Demographics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062" y="1418524"/>
            <a:ext cx="8504572" cy="50590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KEY TAKEAWAYS</a:t>
            </a:r>
            <a:endParaRPr b="1" spc="-1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6297" y="4265641"/>
            <a:ext cx="2028948" cy="2028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82C28-12A6-3BFE-8317-7B19B2798687}"/>
              </a:ext>
            </a:extLst>
          </p:cNvPr>
          <p:cNvSpPr txBox="1"/>
          <p:nvPr/>
        </p:nvSpPr>
        <p:spPr>
          <a:xfrm>
            <a:off x="1219200" y="1443841"/>
            <a:ext cx="9372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Programming Languages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Bash/Shell, C#, and HTML/CSS lead in current usage, while future demand is shifting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Go, C++, and C#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Microsoft SQL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most widely used today;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strong growth in future preference,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the top non-relational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Developer Demographics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Respondents span diverse age groups and education levels, with developers aged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20–35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showing greater interest in emerging languages and modern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Technology Trends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shift from traditional technologies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modern, scalable, and versatile solutions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Go, PostgreSQL, and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Education Levels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Master’s/PhD degrees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stronger interest in specialized modern tools (Go, PostgreSQL), while undergraduates and diploma holders prefer widely used and accessible technologies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HTML/CSS and 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OVERALL FINDINGS &amp; 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345" y="2632132"/>
            <a:ext cx="5576285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0970" marR="5080" indent="-128905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+mn-lt"/>
                <a:cs typeface="Lucida Sans Unicode"/>
              </a:rPr>
              <a:t>Programming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Languages: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Bash/Shell,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HTML/CSS,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C#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are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the 	</a:t>
            </a:r>
            <a:r>
              <a:rPr sz="1600" dirty="0">
                <a:latin typeface="+mn-lt"/>
                <a:cs typeface="Lucida Sans Unicode"/>
              </a:rPr>
              <a:t>most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widely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used,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but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interest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is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shifting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toward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Go,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C++,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25" dirty="0">
                <a:latin typeface="+mn-lt"/>
                <a:cs typeface="Lucida Sans Unicode"/>
              </a:rPr>
              <a:t>C#.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163" y="3165532"/>
            <a:ext cx="5366697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0970" marR="5080" indent="-128905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+mn-lt"/>
                <a:cs typeface="Lucida Sans Unicode"/>
              </a:rPr>
              <a:t>Databases: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Microsoft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SQL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Server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dominates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current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usage,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while 	</a:t>
            </a:r>
            <a:r>
              <a:rPr sz="1600" dirty="0">
                <a:latin typeface="+mn-lt"/>
                <a:cs typeface="Lucida Sans Unicode"/>
              </a:rPr>
              <a:t>PostgreSQL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MongoDB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are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gaining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popularity.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90" y="3698932"/>
            <a:ext cx="5468715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0970" marR="5080" indent="-128905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+mn-lt"/>
                <a:cs typeface="Lucida Sans Unicode"/>
              </a:rPr>
              <a:t>Trends:</a:t>
            </a:r>
            <a:r>
              <a:rPr sz="1600" spc="-4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Traditional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languages/databases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remain</a:t>
            </a:r>
            <a:r>
              <a:rPr sz="1600" spc="-4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steady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but</a:t>
            </a:r>
            <a:r>
              <a:rPr sz="1600" spc="-35" dirty="0">
                <a:latin typeface="+mn-lt"/>
                <a:cs typeface="Lucida Sans Unicode"/>
              </a:rPr>
              <a:t> </a:t>
            </a:r>
            <a:r>
              <a:rPr sz="1600" spc="-20" dirty="0">
                <a:latin typeface="+mn-lt"/>
                <a:cs typeface="Lucida Sans Unicode"/>
              </a:rPr>
              <a:t>show 	</a:t>
            </a:r>
            <a:r>
              <a:rPr sz="1600" dirty="0">
                <a:latin typeface="+mn-lt"/>
                <a:cs typeface="Lucida Sans Unicode"/>
              </a:rPr>
              <a:t>slower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growth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compared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modern,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flexible</a:t>
            </a:r>
            <a:r>
              <a:rPr sz="1600" spc="-3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options.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460" y="4232332"/>
            <a:ext cx="5586695" cy="5074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0970" marR="5080" indent="-128905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+mn-lt"/>
                <a:cs typeface="Lucida Sans Unicode"/>
              </a:rPr>
              <a:t>Demographics: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Younger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and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higher-</a:t>
            </a:r>
            <a:r>
              <a:rPr sz="1600" dirty="0">
                <a:latin typeface="+mn-lt"/>
                <a:cs typeface="Lucida Sans Unicode"/>
              </a:rPr>
              <a:t>educated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developers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are</a:t>
            </a:r>
            <a:r>
              <a:rPr sz="1600" spc="-20" dirty="0">
                <a:latin typeface="+mn-lt"/>
                <a:cs typeface="Lucida Sans Unicode"/>
              </a:rPr>
              <a:t> more 	</a:t>
            </a:r>
            <a:r>
              <a:rPr sz="1600" dirty="0">
                <a:latin typeface="+mn-lt"/>
                <a:cs typeface="Lucida Sans Unicode"/>
              </a:rPr>
              <a:t>likely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to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adopt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modern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technologies.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387" y="4765732"/>
            <a:ext cx="5411113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0970" marR="5080" indent="-128905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+mn-lt"/>
                <a:cs typeface="Lucida Sans Unicode"/>
              </a:rPr>
              <a:t>Platform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worked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with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remains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same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future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with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slower</a:t>
            </a:r>
            <a:r>
              <a:rPr sz="1600" spc="-25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growth 	</a:t>
            </a:r>
            <a:r>
              <a:rPr sz="1600" dirty="0">
                <a:latin typeface="+mn-lt"/>
                <a:cs typeface="Lucida Sans Unicode"/>
              </a:rPr>
              <a:t>whereas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Webframe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ASP.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NET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Core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demand</a:t>
            </a:r>
            <a:r>
              <a:rPr sz="1600" spc="-15" dirty="0">
                <a:latin typeface="+mn-lt"/>
                <a:cs typeface="Lucida Sans Unicode"/>
              </a:rPr>
              <a:t> </a:t>
            </a:r>
            <a:r>
              <a:rPr sz="1600" dirty="0">
                <a:latin typeface="+mn-lt"/>
                <a:cs typeface="Lucida Sans Unicode"/>
              </a:rPr>
              <a:t>increase</a:t>
            </a:r>
            <a:r>
              <a:rPr sz="1600" spc="-20" dirty="0">
                <a:latin typeface="+mn-lt"/>
                <a:cs typeface="Lucida Sans Unicode"/>
              </a:rPr>
              <a:t> </a:t>
            </a:r>
            <a:r>
              <a:rPr sz="1600" spc="-10" dirty="0">
                <a:latin typeface="+mn-lt"/>
                <a:cs typeface="Lucida Sans Unicode"/>
              </a:rPr>
              <a:t>rapidly.</a:t>
            </a:r>
            <a:endParaRPr sz="1600" dirty="0">
              <a:latin typeface="+mn-lt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5371" y="2415679"/>
            <a:ext cx="5757393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 panose="020B0602030504020204" pitchFamily="34" charset="0"/>
              </a:rPr>
              <a:t>Programming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Languages: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The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shift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in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interest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toward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Go,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C++,</a:t>
            </a:r>
            <a:r>
              <a:rPr sz="1600" spc="500" dirty="0">
                <a:latin typeface="+mn-lt"/>
                <a:cs typeface="Lucida Sans Unicode" panose="020B0602030504020204" pitchFamily="34" charset="0"/>
              </a:rPr>
              <a:t>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C#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indicates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that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organizations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may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need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to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expand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their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tech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stack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to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attract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and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retain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new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developer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talent.</a:t>
            </a:r>
            <a:endParaRPr sz="1600" dirty="0">
              <a:latin typeface="+mn-lt"/>
              <a:cs typeface="Lucida Sans Unicode" panose="020B0602030504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5370" y="3139579"/>
            <a:ext cx="5290829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 panose="020B0602030504020204" pitchFamily="34" charset="0"/>
              </a:rPr>
              <a:t>Databases:</a:t>
            </a:r>
            <a:r>
              <a:rPr sz="1600" spc="-3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The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rise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of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PostgreSQL</a:t>
            </a:r>
            <a:r>
              <a:rPr sz="1600" spc="-3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and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MongoDB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highlights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50" dirty="0">
                <a:latin typeface="+mn-lt"/>
                <a:cs typeface="Lucida Sans Unicode" panose="020B0602030504020204" pitchFamily="34" charset="0"/>
              </a:rPr>
              <a:t>a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growing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preference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for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flexible,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scalable,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modern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data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solutions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over</a:t>
            </a:r>
            <a:r>
              <a:rPr sz="1600" spc="-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older</a:t>
            </a:r>
            <a:r>
              <a:rPr sz="1600" spc="-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enterprise-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heavy</a:t>
            </a:r>
            <a:r>
              <a:rPr sz="1600" spc="-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options.</a:t>
            </a:r>
            <a:endParaRPr sz="1600" dirty="0">
              <a:latin typeface="+mn-lt"/>
              <a:cs typeface="Lucida Sans Unicode" panose="020B0602030504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5370" y="3863479"/>
            <a:ext cx="5415007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 panose="020B0602030504020204" pitchFamily="34" charset="0"/>
              </a:rPr>
              <a:t>Trends: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Slower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growth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of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traditional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languages/databases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suggests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that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companies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relying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only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on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legacy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systems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risk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falling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behind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developer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communities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focus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on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newer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tools.</a:t>
            </a:r>
            <a:endParaRPr sz="1600" dirty="0">
              <a:latin typeface="+mn-lt"/>
              <a:cs typeface="Lucida Sans Unicode" panose="020B0602030504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5370" y="4587379"/>
            <a:ext cx="5750933" cy="76354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 panose="020B0602030504020204" pitchFamily="34" charset="0"/>
              </a:rPr>
              <a:t>Demographics: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Younger,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highly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educated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developers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are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driving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modern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tech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adoption,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meaning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businesses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must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align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their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hiring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training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strategies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with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these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preferences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to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stay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competitive.</a:t>
            </a:r>
            <a:endParaRPr sz="1600" dirty="0">
              <a:latin typeface="+mn-lt"/>
              <a:cs typeface="Lucida Sans Unicode" panose="020B0602030504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15370" y="5311279"/>
            <a:ext cx="5613117" cy="101963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1445" marR="5080" indent="-119380" algn="l">
              <a:lnSpc>
                <a:spcPct val="104200"/>
              </a:lnSpc>
              <a:spcBef>
                <a:spcPts val="40"/>
              </a:spcBef>
              <a:buChar char="•"/>
              <a:tabLst>
                <a:tab pos="132715" algn="l"/>
              </a:tabLst>
            </a:pPr>
            <a:r>
              <a:rPr sz="1600" dirty="0">
                <a:latin typeface="+mn-lt"/>
                <a:cs typeface="Lucida Sans Unicode" panose="020B0602030504020204" pitchFamily="34" charset="0"/>
              </a:rPr>
              <a:t>Platforms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&amp;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Frameworks: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Since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platform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usage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remains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steady,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innovation</a:t>
            </a:r>
            <a:r>
              <a:rPr sz="1600" spc="-3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will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primarily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come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from</a:t>
            </a:r>
            <a:r>
              <a:rPr sz="1600" spc="-3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framework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adoption.</a:t>
            </a:r>
            <a:r>
              <a:rPr sz="1600" spc="-3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The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rapid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demand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for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ASP.NET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Core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suggests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businesses</a:t>
            </a:r>
            <a:r>
              <a:rPr sz="1600" spc="-2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should 	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prioritize</a:t>
            </a:r>
            <a:r>
              <a:rPr sz="1600" spc="-20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modern</a:t>
            </a:r>
            <a:r>
              <a:rPr sz="1600" spc="-1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frameworks</a:t>
            </a:r>
            <a:r>
              <a:rPr sz="1600" spc="-1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to</a:t>
            </a:r>
            <a:r>
              <a:rPr sz="1600" spc="-1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build</a:t>
            </a:r>
            <a:r>
              <a:rPr sz="1600" spc="-1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future-</a:t>
            </a:r>
            <a:r>
              <a:rPr sz="1600" dirty="0">
                <a:latin typeface="+mn-lt"/>
                <a:cs typeface="Lucida Sans Unicode" panose="020B0602030504020204" pitchFamily="34" charset="0"/>
              </a:rPr>
              <a:t>ready</a:t>
            </a:r>
            <a:r>
              <a:rPr sz="1600" spc="-15" dirty="0">
                <a:latin typeface="+mn-lt"/>
                <a:cs typeface="Lucida Sans Unicode" panose="020B0602030504020204" pitchFamily="34" charset="0"/>
              </a:rPr>
              <a:t> </a:t>
            </a:r>
            <a:r>
              <a:rPr sz="1600" spc="-10" dirty="0">
                <a:latin typeface="+mn-lt"/>
                <a:cs typeface="Lucida Sans Unicode" panose="020B0602030504020204" pitchFamily="34" charset="0"/>
              </a:rPr>
              <a:t>applications.</a:t>
            </a:r>
            <a:endParaRPr sz="1600" dirty="0">
              <a:latin typeface="+mn-lt"/>
              <a:cs typeface="Lucida Sans Unicode" panose="020B0602030504020204" pitchFamily="34" charset="0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2D9E1C95-6C9F-C674-6A7C-C7754D1E6F7A}"/>
              </a:ext>
            </a:extLst>
          </p:cNvPr>
          <p:cNvSpPr txBox="1"/>
          <p:nvPr/>
        </p:nvSpPr>
        <p:spPr>
          <a:xfrm>
            <a:off x="2438400" y="1527892"/>
            <a:ext cx="1371599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 anchor="b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Findings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E0BEE021-D8B0-EF81-4114-0A6E600FCF84}"/>
              </a:ext>
            </a:extLst>
          </p:cNvPr>
          <p:cNvSpPr txBox="1"/>
          <p:nvPr/>
        </p:nvSpPr>
        <p:spPr>
          <a:xfrm>
            <a:off x="7863526" y="1527892"/>
            <a:ext cx="1905000" cy="87459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6485" algn="l"/>
              </a:tabLst>
            </a:pPr>
            <a:r>
              <a:rPr lang="en-IN" sz="2800" spc="70" dirty="0">
                <a:solidFill>
                  <a:srgbClr val="262626"/>
                </a:solidFill>
                <a:latin typeface="+mn-lt"/>
                <a:cs typeface="Lucida Sans Unicode"/>
              </a:rPr>
              <a:t>Implications</a:t>
            </a:r>
            <a:r>
              <a:rPr sz="2800" dirty="0">
                <a:solidFill>
                  <a:srgbClr val="262626"/>
                </a:solidFill>
                <a:latin typeface="+mn-lt"/>
                <a:cs typeface="Lucida Sans Unicode"/>
              </a:rPr>
              <a:t>	</a:t>
            </a:r>
            <a:endParaRPr sz="2800" dirty="0">
              <a:latin typeface="+mn-lt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887" y="668794"/>
            <a:ext cx="91282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71219" y="1509942"/>
            <a:ext cx="10387330" cy="2290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132715" algn="l"/>
              </a:tabLst>
            </a:pPr>
            <a:r>
              <a:rPr sz="1600" b="1" dirty="0">
                <a:latin typeface="+mn-lt"/>
                <a:cs typeface="Times New Roman"/>
              </a:rPr>
              <a:t>Modern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shift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in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technology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adoption</a:t>
            </a:r>
            <a:r>
              <a:rPr sz="1600" b="1" spc="-15" dirty="0">
                <a:latin typeface="+mn-lt"/>
                <a:cs typeface="Times New Roman"/>
              </a:rPr>
              <a:t> </a:t>
            </a:r>
            <a:r>
              <a:rPr sz="1600" dirty="0">
                <a:latin typeface="+mn-lt"/>
              </a:rPr>
              <a:t>–</a:t>
            </a:r>
            <a:r>
              <a:rPr sz="1600" spc="-50" dirty="0">
                <a:latin typeface="+mn-lt"/>
              </a:rPr>
              <a:t> </a:t>
            </a:r>
            <a:r>
              <a:rPr sz="1600" dirty="0">
                <a:latin typeface="+mn-lt"/>
              </a:rPr>
              <a:t>While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traditional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languages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databases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like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Bash/Shell,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HTML/CSS,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SQL</a:t>
            </a:r>
            <a:r>
              <a:rPr sz="1600" spc="-7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Server </a:t>
            </a:r>
            <a:r>
              <a:rPr sz="1600" dirty="0">
                <a:latin typeface="+mn-lt"/>
              </a:rPr>
              <a:t>dominate</a:t>
            </a:r>
            <a:r>
              <a:rPr sz="1600" spc="-35" dirty="0">
                <a:latin typeface="+mn-lt"/>
              </a:rPr>
              <a:t> </a:t>
            </a:r>
            <a:r>
              <a:rPr sz="1600" dirty="0">
                <a:latin typeface="+mn-lt"/>
              </a:rPr>
              <a:t>current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usage,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future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trends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clearly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show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pivot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toward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modern,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flexible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tools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such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Go,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PostgreSQL,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95" dirty="0">
                <a:latin typeface="+mn-lt"/>
              </a:rPr>
              <a:t> </a:t>
            </a:r>
            <a:r>
              <a:rPr sz="1600" spc="-30" dirty="0">
                <a:latin typeface="+mn-lt"/>
              </a:rPr>
              <a:t>ASP.NET</a:t>
            </a:r>
            <a:r>
              <a:rPr sz="1600" spc="-4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Core.</a:t>
            </a:r>
          </a:p>
          <a:p>
            <a:pPr marL="132715" marR="234315" indent="-120650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132715" algn="l"/>
              </a:tabLst>
            </a:pPr>
            <a:r>
              <a:rPr sz="1600" b="1" dirty="0">
                <a:latin typeface="+mn-lt"/>
                <a:cs typeface="Times New Roman"/>
              </a:rPr>
              <a:t>Developer</a:t>
            </a:r>
            <a:r>
              <a:rPr sz="1600" b="1" spc="-45" dirty="0">
                <a:latin typeface="+mn-lt"/>
                <a:cs typeface="Times New Roman"/>
              </a:rPr>
              <a:t> </a:t>
            </a:r>
            <a:r>
              <a:rPr sz="1600" b="1" spc="-10" dirty="0">
                <a:latin typeface="+mn-lt"/>
                <a:cs typeface="Times New Roman"/>
              </a:rPr>
              <a:t>preferences</a:t>
            </a:r>
            <a:r>
              <a:rPr sz="1600" b="1" spc="-15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drive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industry</a:t>
            </a:r>
            <a:r>
              <a:rPr sz="1600" b="1" spc="-1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change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dirty="0">
                <a:latin typeface="+mn-lt"/>
              </a:rPr>
              <a:t>–</a:t>
            </a:r>
            <a:r>
              <a:rPr sz="1600" spc="-70" dirty="0">
                <a:latin typeface="+mn-lt"/>
              </a:rPr>
              <a:t> </a:t>
            </a:r>
            <a:r>
              <a:rPr sz="1600" spc="-25" dirty="0">
                <a:latin typeface="+mn-lt"/>
              </a:rPr>
              <a:t>Younger,</a:t>
            </a:r>
            <a:r>
              <a:rPr sz="1600" spc="-10" dirty="0">
                <a:latin typeface="+mn-lt"/>
              </a:rPr>
              <a:t> better-</a:t>
            </a:r>
            <a:r>
              <a:rPr sz="1600" dirty="0">
                <a:latin typeface="+mn-lt"/>
              </a:rPr>
              <a:t>educated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developers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are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reshaping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technology</a:t>
            </a:r>
            <a:r>
              <a:rPr sz="1600" spc="-1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landscape, </a:t>
            </a:r>
            <a:r>
              <a:rPr sz="1600" dirty="0">
                <a:latin typeface="+mn-lt"/>
              </a:rPr>
              <a:t>pushing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organizations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adopt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versatile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languages,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scalable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databases,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newer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frameworks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remain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attractive</a:t>
            </a:r>
            <a:r>
              <a:rPr sz="1600" spc="-2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5" dirty="0">
                <a:latin typeface="+mn-lt"/>
              </a:rPr>
              <a:t> </a:t>
            </a:r>
            <a:r>
              <a:rPr sz="1600" spc="-10" dirty="0">
                <a:latin typeface="+mn-lt"/>
              </a:rPr>
              <a:t>competitive.</a:t>
            </a:r>
          </a:p>
          <a:p>
            <a:pPr marL="132715" marR="48260" indent="-120650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132715" algn="l"/>
              </a:tabLst>
            </a:pPr>
            <a:r>
              <a:rPr sz="1600" b="1" dirty="0">
                <a:latin typeface="+mn-lt"/>
                <a:cs typeface="Times New Roman"/>
              </a:rPr>
              <a:t>Balance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of</a:t>
            </a:r>
            <a:r>
              <a:rPr sz="1600" b="1" spc="-15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stability</a:t>
            </a:r>
            <a:r>
              <a:rPr sz="1600" b="1" spc="-15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and</a:t>
            </a:r>
            <a:r>
              <a:rPr sz="1600" b="1" spc="-10" dirty="0">
                <a:latin typeface="+mn-lt"/>
                <a:cs typeface="Times New Roman"/>
              </a:rPr>
              <a:t> </a:t>
            </a:r>
            <a:r>
              <a:rPr sz="1600" b="1" dirty="0">
                <a:latin typeface="+mn-lt"/>
                <a:cs typeface="Times New Roman"/>
              </a:rPr>
              <a:t>innovation</a:t>
            </a:r>
            <a:r>
              <a:rPr sz="1600" b="1" spc="-20" dirty="0">
                <a:latin typeface="+mn-lt"/>
                <a:cs typeface="Times New Roman"/>
              </a:rPr>
              <a:t> </a:t>
            </a:r>
            <a:r>
              <a:rPr sz="1600" dirty="0">
                <a:latin typeface="+mn-lt"/>
              </a:rPr>
              <a:t>–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Legacy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technologies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remain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important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for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reliability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enterprise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systems,</a:t>
            </a:r>
            <a:r>
              <a:rPr sz="1600" spc="-10" dirty="0">
                <a:latin typeface="+mn-lt"/>
              </a:rPr>
              <a:t> </a:t>
            </a:r>
            <a:r>
              <a:rPr sz="1600" dirty="0">
                <a:latin typeface="+mn-lt"/>
              </a:rPr>
              <a:t>but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the</a:t>
            </a:r>
            <a:r>
              <a:rPr sz="1600" spc="-20" dirty="0">
                <a:latin typeface="+mn-lt"/>
              </a:rPr>
              <a:t> </a:t>
            </a:r>
            <a:r>
              <a:rPr sz="1600" dirty="0">
                <a:latin typeface="+mn-lt"/>
              </a:rPr>
              <a:t>long-</a:t>
            </a:r>
            <a:r>
              <a:rPr sz="1600" spc="-20" dirty="0">
                <a:latin typeface="+mn-lt"/>
              </a:rPr>
              <a:t>term </a:t>
            </a:r>
            <a:r>
              <a:rPr sz="1600" dirty="0">
                <a:latin typeface="+mn-lt"/>
              </a:rPr>
              <a:t>advantage</a:t>
            </a:r>
            <a:r>
              <a:rPr sz="1600" spc="-15" dirty="0">
                <a:latin typeface="+mn-lt"/>
              </a:rPr>
              <a:t> </a:t>
            </a:r>
            <a:r>
              <a:rPr sz="1600" dirty="0">
                <a:latin typeface="+mn-lt"/>
              </a:rPr>
              <a:t>lies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in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strategically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blending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them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with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emerging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tools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to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support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both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stability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and</a:t>
            </a:r>
            <a:r>
              <a:rPr sz="1600" spc="-5" dirty="0">
                <a:latin typeface="+mn-lt"/>
              </a:rPr>
              <a:t> </a:t>
            </a:r>
            <a:r>
              <a:rPr sz="1600" dirty="0">
                <a:latin typeface="+mn-lt"/>
              </a:rPr>
              <a:t>future</a:t>
            </a:r>
            <a:r>
              <a:rPr sz="1600" spc="-10" dirty="0">
                <a:latin typeface="+mn-lt"/>
              </a:rPr>
              <a:t> growth</a:t>
            </a:r>
            <a:r>
              <a:rPr sz="1600" spc="-1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2739" y="4220631"/>
            <a:ext cx="1630679" cy="163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1335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Courier New</vt:lpstr>
      <vt:lpstr>Impact</vt:lpstr>
      <vt:lpstr>Lucida Sans Unicode</vt:lpstr>
      <vt:lpstr>Times New Roman</vt:lpstr>
      <vt:lpstr>Office Theme</vt:lpstr>
      <vt:lpstr>Technology Trends Analysis</vt:lpstr>
      <vt:lpstr>OUTLINE</vt:lpstr>
      <vt:lpstr>EXECUTIVE   SUMMARY  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 : Current Technology Usage</vt:lpstr>
      <vt:lpstr>Dashboard : Future Technology Usage</vt:lpstr>
      <vt:lpstr>Dashboard : Demographics</vt:lpstr>
      <vt:lpstr>KEY TAKEAWAYS</vt:lpstr>
      <vt:lpstr>OVERALL FINDINGS &amp; IMPLICATIONS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Project Presentation</dc:title>
  <dc:creator>LENOVO</dc:creator>
  <cp:lastModifiedBy>Manasi Khanolkar</cp:lastModifiedBy>
  <cp:revision>3</cp:revision>
  <dcterms:created xsi:type="dcterms:W3CDTF">2026-02-04T04:58:25Z</dcterms:created>
  <dcterms:modified xsi:type="dcterms:W3CDTF">2026-02-10T05:56:33Z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2025-09-13T00:00:00Z</vt:filetime>
  </property>
  <property fmtid="{D5CDD505-2E9C-101B-9397-08002B2CF9AE}" pid="3" name="Creator">
    <vt:lpwstr>Keynote</vt:lpwstr>
  </property>
  <property fmtid="{D5CDD505-2E9C-101B-9397-08002B2CF9AE}" pid="4" name="LastSaved">
    <vt:filetime>2026-02-04T00:00:00Z</vt:filetime>
  </property>
  <property fmtid="{D5CDD505-2E9C-101B-9397-08002B2CF9AE}" pid="5" name="Producer">
    <vt:lpwstr>macOS Version 15.6.1 (Build 24G90) Quartz PDFContext</vt:lpwstr>
  </property>
</Properties>
</file>